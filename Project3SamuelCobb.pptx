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4" r:id="rId4"/>
    <p:sldId id="258" r:id="rId5"/>
    <p:sldId id="259" r:id="rId6"/>
    <p:sldId id="275" r:id="rId7"/>
    <p:sldId id="257" r:id="rId8"/>
    <p:sldId id="261" r:id="rId9"/>
    <p:sldId id="263" r:id="rId10"/>
    <p:sldId id="270" r:id="rId11"/>
    <p:sldId id="267" r:id="rId12"/>
    <p:sldId id="265" r:id="rId13"/>
    <p:sldId id="268" r:id="rId14"/>
    <p:sldId id="269" r:id="rId15"/>
    <p:sldId id="266" r:id="rId16"/>
    <p:sldId id="277" r:id="rId17"/>
    <p:sldId id="276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4887"/>
    <a:srgbClr val="F58A07"/>
    <a:srgbClr val="12664F"/>
    <a:srgbClr val="AD7422"/>
    <a:srgbClr val="6CCFF6"/>
    <a:srgbClr val="98CE00"/>
    <a:srgbClr val="DA7422"/>
    <a:srgbClr val="757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4CA7-2F03-86A8-6D48-6A901549D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3B083-5E4C-0659-D25B-AB89C98B9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EB905-43FD-810A-C503-E0092A4B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F83D4-3147-D24F-A7B6-317DC0C1C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28ED7-FA64-4CA0-C1BB-22892D345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77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9BF0-9D52-FD92-9E94-A6A7BDF3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BD470-04E7-FA56-4EFB-C7FCF885E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A332C-17AC-E5B0-BB0C-797BC88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CF434-E6B4-F4A1-19BD-D1141969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A1931-6492-8140-C410-C0D0F722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38DD-F999-E23C-C66B-7D1BFEAAF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57D6E-1AE2-9307-65F2-33A0F7920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62429-2EAB-5A68-687F-A5DD5853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35C7A-A63D-B0BC-AF91-BC9A5364A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877DA-AD8C-273C-25DC-BF185FD7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AFB8-D491-5354-27F5-CE2CC1FC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95F0-8210-23A9-4E94-18D4855BD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7634D-98CC-561D-29BC-D2F097569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C493E-F13A-116F-1110-2A4F02CA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CEFDD-3681-236B-E33A-7C075FA2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7D25-AB28-DA00-FBBB-3ABC91B0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3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D03D-20B2-F25F-7D6C-6C6998A0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883C9-7EA1-559F-1689-2EEA0091B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CD65E-6E6E-4BB0-311E-6F4A91CBF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C6079-237B-2D58-476C-DE30F120E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4DABC-23CD-9021-F3C8-50AB567DB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99EB4A-CE45-686D-E586-D696B1A0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086CB-6F8E-98E4-40F4-913516E2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862B3C-4102-23C4-5F0A-746B2765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6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5D22-2020-98D4-DB50-58E6A0A0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A9BA3-8F9B-88B9-5F43-F6247FC7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11DAAC-6BDE-46EB-B138-DDECB9B5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522E5-66C1-40E4-46F1-780507C9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04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3155BC-6772-C399-E235-397AF1D1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E6A50-CFD7-AF7B-968C-D20E3F71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41368-237A-2998-A5DB-0BAE302F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3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E289-192E-0F77-345E-E6902F4E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D1A6C-FA53-8261-F6C8-3B7E0FEF3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12C15-C691-75BA-8140-7353FF13F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DB525-312A-32BB-83D7-86C4D62A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96EAA-671E-A1F4-5339-06953B3F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027EB-84E1-E6E9-1924-C3B9E3F0F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0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D5C9-3CB1-9A82-3E13-09C32B74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BC7D9-81BF-C377-D710-771BA0C90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6B1320-3174-B03B-F000-E53B8EAEF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57C29-FB7C-7F51-E56C-C00E6EF3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61492-2205-4B12-6064-20EA960F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C8000-2B3B-7A43-3062-143574704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14188-E690-F58D-B207-ABEB230E1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578DEB-C4A4-3EC0-BC74-80F08389D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B8E8E-C4E7-C4C6-7E7C-C009587B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2469-AE1A-9CD9-9782-99B7FD27F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3E5AD-163E-1277-05DA-C2D14A7D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2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F0C9B2-8DDB-3867-8106-5FD5324FC9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37924-F45C-7057-0F0A-4DB480ACD0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AAD7D-FDE8-C551-FEEA-D8F98D5D0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0C2AD-8285-B6A2-9B86-485C2E3D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8BE34-167A-1C04-9621-0B824FB9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3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3B14A5-7FA9-EF1D-35C9-6F9BBD22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A8872-43F6-F80D-3135-B44893E04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DEC7F-35A9-248E-2187-D2149A01D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D97F0-4337-417B-8554-2D0114AAC8CC}" type="datetimeFigureOut">
              <a:rPr lang="en-US" smtClean="0"/>
              <a:t>5/4/2025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A03CA-1C2A-4870-1ADF-9860281A6B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8DB23-BBA8-CB80-D454-4A9C79FBA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CB378-F385-4EB6-92DB-0EC46C772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8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7.svg"/><Relationship Id="rId7" Type="http://schemas.openxmlformats.org/officeDocument/2006/relationships/image" Target="../media/image6.svg"/><Relationship Id="rId12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1.svg"/><Relationship Id="rId5" Type="http://schemas.openxmlformats.org/officeDocument/2006/relationships/image" Target="../media/image4.sv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svg"/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FD4B-A90A-1929-72FE-0F6D4902AF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Purchasing A Family Home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F94566-3C12-63F8-62D7-328DECE88B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Variables Effecting the House Prices in America</a:t>
            </a:r>
          </a:p>
        </p:txBody>
      </p:sp>
    </p:spTree>
    <p:extLst>
      <p:ext uri="{BB962C8B-B14F-4D97-AF65-F5344CB8AC3E}">
        <p14:creationId xmlns:p14="http://schemas.microsoft.com/office/powerpoint/2010/main" val="31349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5B7D-A99B-ECA4-ACDA-176209D0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Determines House Price?</a:t>
            </a:r>
          </a:p>
        </p:txBody>
      </p:sp>
      <p:pic>
        <p:nvPicPr>
          <p:cNvPr id="5" name="Graphic 4" descr="Sleep with solid fill">
            <a:extLst>
              <a:ext uri="{FF2B5EF4-FFF2-40B4-BE49-F238E27FC236}">
                <a16:creationId xmlns:a16="http://schemas.microsoft.com/office/drawing/2014/main" id="{E821E48F-8E64-770C-0FB5-C7BF9E17B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0626" y="2648472"/>
            <a:ext cx="1389617" cy="1389617"/>
          </a:xfrm>
          <a:prstGeom prst="rect">
            <a:avLst/>
          </a:prstGeom>
        </p:spPr>
      </p:pic>
      <p:pic>
        <p:nvPicPr>
          <p:cNvPr id="9" name="Graphic 8" descr="Rolling hills with solid fill">
            <a:extLst>
              <a:ext uri="{FF2B5EF4-FFF2-40B4-BE49-F238E27FC236}">
                <a16:creationId xmlns:a16="http://schemas.microsoft.com/office/drawing/2014/main" id="{15E3DC34-1C33-D349-DB66-CCB517777C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495" y="2605513"/>
            <a:ext cx="1389617" cy="1389617"/>
          </a:xfrm>
          <a:prstGeom prst="rect">
            <a:avLst/>
          </a:prstGeom>
        </p:spPr>
      </p:pic>
      <p:pic>
        <p:nvPicPr>
          <p:cNvPr id="11" name="Graphic 10" descr="House with solid fill">
            <a:extLst>
              <a:ext uri="{FF2B5EF4-FFF2-40B4-BE49-F238E27FC236}">
                <a16:creationId xmlns:a16="http://schemas.microsoft.com/office/drawing/2014/main" id="{0959B490-FAA4-1AF1-80BA-04D33B8EC7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1190" y="1451345"/>
            <a:ext cx="1389617" cy="1389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A5EF3A-FA64-5CF5-4BCB-BD4CA227808D}"/>
              </a:ext>
            </a:extLst>
          </p:cNvPr>
          <p:cNvSpPr txBox="1"/>
          <p:nvPr/>
        </p:nvSpPr>
        <p:spPr>
          <a:xfrm>
            <a:off x="2017570" y="3903077"/>
            <a:ext cx="138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Bedrooms?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D6E74-6BBB-7AE0-C33B-891EC6EBF841}"/>
              </a:ext>
            </a:extLst>
          </p:cNvPr>
          <p:cNvSpPr txBox="1"/>
          <p:nvPr/>
        </p:nvSpPr>
        <p:spPr>
          <a:xfrm>
            <a:off x="5401190" y="2734605"/>
            <a:ext cx="138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House Size?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D1C9E-EE94-7822-ADFB-98D9C991A335}"/>
              </a:ext>
            </a:extLst>
          </p:cNvPr>
          <p:cNvSpPr txBox="1"/>
          <p:nvPr/>
        </p:nvSpPr>
        <p:spPr>
          <a:xfrm>
            <a:off x="8658562" y="3896940"/>
            <a:ext cx="82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Land?</a:t>
            </a:r>
          </a:p>
        </p:txBody>
      </p:sp>
      <p:pic>
        <p:nvPicPr>
          <p:cNvPr id="16" name="Graphic 15" descr="City with solid fill">
            <a:extLst>
              <a:ext uri="{FF2B5EF4-FFF2-40B4-BE49-F238E27FC236}">
                <a16:creationId xmlns:a16="http://schemas.microsoft.com/office/drawing/2014/main" id="{FFCBC7D8-8673-29D5-61D1-A6EA2ECBBB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2720" y="3754064"/>
            <a:ext cx="1709603" cy="17096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DD5F83-C740-14B7-755D-CF46CC0B6C7A}"/>
              </a:ext>
            </a:extLst>
          </p:cNvPr>
          <p:cNvSpPr txBox="1"/>
          <p:nvPr/>
        </p:nvSpPr>
        <p:spPr>
          <a:xfrm>
            <a:off x="3694550" y="5279001"/>
            <a:ext cx="476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Location?</a:t>
            </a:r>
          </a:p>
        </p:txBody>
      </p:sp>
    </p:spTree>
    <p:extLst>
      <p:ext uri="{BB962C8B-B14F-4D97-AF65-F5344CB8AC3E}">
        <p14:creationId xmlns:p14="http://schemas.microsoft.com/office/powerpoint/2010/main" val="382018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6AB49-3773-5B8E-E59D-3188910A6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A219FD4-5539-E7AC-34B2-52C8E98C7949}"/>
              </a:ext>
            </a:extLst>
          </p:cNvPr>
          <p:cNvSpPr/>
          <p:nvPr/>
        </p:nvSpPr>
        <p:spPr>
          <a:xfrm>
            <a:off x="8350138" y="1031001"/>
            <a:ext cx="2794500" cy="408718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E8CFA4-ACE2-2DA4-4A5A-52A69493CDFD}"/>
              </a:ext>
            </a:extLst>
          </p:cNvPr>
          <p:cNvSpPr txBox="1"/>
          <p:nvPr/>
        </p:nvSpPr>
        <p:spPr>
          <a:xfrm>
            <a:off x="8350138" y="1031001"/>
            <a:ext cx="2794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H₀: There is </a:t>
            </a:r>
            <a:r>
              <a:rPr lang="en-US" b="1" i="0" dirty="0">
                <a:effectLst/>
                <a:latin typeface="system-ui"/>
              </a:rPr>
              <a:t>no</a:t>
            </a:r>
            <a:r>
              <a:rPr lang="en-US" b="0" i="0" dirty="0">
                <a:effectLst/>
                <a:latin typeface="system-ui"/>
              </a:rPr>
              <a:t> relationship between </a:t>
            </a:r>
            <a:r>
              <a:rPr lang="en-US" b="1" i="0" dirty="0">
                <a:effectLst/>
                <a:latin typeface="system-ui"/>
              </a:rPr>
              <a:t>property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size</a:t>
            </a:r>
            <a:r>
              <a:rPr lang="en-US" b="0" i="0" dirty="0">
                <a:effectLst/>
                <a:latin typeface="system-ui"/>
              </a:rPr>
              <a:t> and </a:t>
            </a:r>
            <a:r>
              <a:rPr lang="en-US" b="1" i="0" dirty="0">
                <a:effectLst/>
                <a:latin typeface="system-ui"/>
              </a:rPr>
              <a:t>house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price</a:t>
            </a:r>
            <a:r>
              <a:rPr lang="en-US" b="0" i="0" dirty="0">
                <a:effectLst/>
                <a:latin typeface="system-ui"/>
              </a:rPr>
              <a:t>.</a:t>
            </a:r>
          </a:p>
          <a:p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H₁: </a:t>
            </a:r>
            <a:r>
              <a:rPr lang="en-US" b="1" i="0" dirty="0">
                <a:effectLst/>
                <a:latin typeface="system-ui"/>
              </a:rPr>
              <a:t>Larger</a:t>
            </a:r>
            <a:r>
              <a:rPr lang="en-US" b="0" i="0" dirty="0">
                <a:effectLst/>
                <a:latin typeface="system-ui"/>
              </a:rPr>
              <a:t> lot size is associated with </a:t>
            </a:r>
            <a:r>
              <a:rPr lang="en-US" b="1" i="0" dirty="0">
                <a:effectLst/>
                <a:latin typeface="system-ui"/>
              </a:rPr>
              <a:t>higher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price</a:t>
            </a:r>
            <a:r>
              <a:rPr lang="en-US" i="0" dirty="0">
                <a:effectLst/>
                <a:latin typeface="system-ui"/>
              </a:rPr>
              <a:t>.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C0E8D2-D626-E9EC-0ABE-1E5185179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612023"/>
            <a:ext cx="7511938" cy="56339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970E8E-4288-91DF-1B97-559091D31347}"/>
              </a:ext>
            </a:extLst>
          </p:cNvPr>
          <p:cNvSpPr txBox="1"/>
          <p:nvPr/>
        </p:nvSpPr>
        <p:spPr>
          <a:xfrm>
            <a:off x="8350138" y="3062326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T-score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74.85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EB359F-71CA-C5AE-BC87-4BB26963F85C}"/>
              </a:ext>
            </a:extLst>
          </p:cNvPr>
          <p:cNvSpPr/>
          <p:nvPr/>
        </p:nvSpPr>
        <p:spPr>
          <a:xfrm>
            <a:off x="3405987" y="678048"/>
            <a:ext cx="3221879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2D952-ACDF-7172-DE3C-A8B97B2A1A31}"/>
              </a:ext>
            </a:extLst>
          </p:cNvPr>
          <p:cNvSpPr txBox="1"/>
          <p:nvPr/>
        </p:nvSpPr>
        <p:spPr>
          <a:xfrm>
            <a:off x="2806615" y="200994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Average Cost Acreage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8A269-C5CA-5723-4030-0D388580940B}"/>
              </a:ext>
            </a:extLst>
          </p:cNvPr>
          <p:cNvSpPr txBox="1"/>
          <p:nvPr/>
        </p:nvSpPr>
        <p:spPr>
          <a:xfrm>
            <a:off x="8350138" y="4086168"/>
            <a:ext cx="2794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Correlation Coe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0.02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393350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692A7E-5147-3520-1858-9919975272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67" y="542355"/>
            <a:ext cx="11954866" cy="5977433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471E35E-2C55-6094-CFB3-6058FED88A6D}"/>
              </a:ext>
            </a:extLst>
          </p:cNvPr>
          <p:cNvSpPr/>
          <p:nvPr/>
        </p:nvSpPr>
        <p:spPr>
          <a:xfrm>
            <a:off x="4817476" y="542355"/>
            <a:ext cx="3117551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F3D9C-86FF-570F-484E-86728DCBBD5D}"/>
              </a:ext>
            </a:extLst>
          </p:cNvPr>
          <p:cNvSpPr txBox="1"/>
          <p:nvPr/>
        </p:nvSpPr>
        <p:spPr>
          <a:xfrm>
            <a:off x="2806615" y="303828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Average Cost per State</a:t>
            </a:r>
          </a:p>
        </p:txBody>
      </p:sp>
    </p:spTree>
    <p:extLst>
      <p:ext uri="{BB962C8B-B14F-4D97-AF65-F5344CB8AC3E}">
        <p14:creationId xmlns:p14="http://schemas.microsoft.com/office/powerpoint/2010/main" val="3345545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6D66A5-2DF0-D70E-8C2A-716103BAD7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168" y="793156"/>
            <a:ext cx="11721664" cy="586083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3525F6-4283-8F80-5E54-B7E9CDE264FA}"/>
              </a:ext>
            </a:extLst>
          </p:cNvPr>
          <p:cNvSpPr/>
          <p:nvPr/>
        </p:nvSpPr>
        <p:spPr>
          <a:xfrm>
            <a:off x="4829751" y="793156"/>
            <a:ext cx="3117551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E1FEB-F3E3-3F46-94D3-913C2E1866C0}"/>
              </a:ext>
            </a:extLst>
          </p:cNvPr>
          <p:cNvSpPr txBox="1"/>
          <p:nvPr/>
        </p:nvSpPr>
        <p:spPr>
          <a:xfrm>
            <a:off x="2405670" y="233203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Average Cost per State (Region Overlay)</a:t>
            </a:r>
          </a:p>
        </p:txBody>
      </p:sp>
    </p:spTree>
    <p:extLst>
      <p:ext uri="{BB962C8B-B14F-4D97-AF65-F5344CB8AC3E}">
        <p14:creationId xmlns:p14="http://schemas.microsoft.com/office/powerpoint/2010/main" val="1816286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62705F-8CC9-A834-9AD2-0C66080A2B13}"/>
              </a:ext>
            </a:extLst>
          </p:cNvPr>
          <p:cNvSpPr txBox="1"/>
          <p:nvPr/>
        </p:nvSpPr>
        <p:spPr>
          <a:xfrm>
            <a:off x="2405670" y="233203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Average Cost per State (</a:t>
            </a:r>
            <a:r>
              <a:rPr lang="en-US" sz="2500" dirty="0" err="1"/>
              <a:t>GeoSpatial</a:t>
            </a:r>
            <a:r>
              <a:rPr lang="en-US" sz="2500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C18C3-FBB1-EEEE-D30F-A272BBFBAD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2"/>
          <a:stretch/>
        </p:blipFill>
        <p:spPr>
          <a:xfrm>
            <a:off x="957358" y="592675"/>
            <a:ext cx="10162728" cy="60321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8B63158-E0BD-1282-9202-C95A141C5081}"/>
              </a:ext>
            </a:extLst>
          </p:cNvPr>
          <p:cNvSpPr/>
          <p:nvPr/>
        </p:nvSpPr>
        <p:spPr>
          <a:xfrm>
            <a:off x="679151" y="969633"/>
            <a:ext cx="4093321" cy="405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89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CC91250-3F31-328C-5805-B0AC43E7C5AD}"/>
              </a:ext>
            </a:extLst>
          </p:cNvPr>
          <p:cNvSpPr/>
          <p:nvPr/>
        </p:nvSpPr>
        <p:spPr>
          <a:xfrm>
            <a:off x="8350138" y="1031001"/>
            <a:ext cx="2794500" cy="408718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30213-BD1D-E8C9-1037-F44C5CB8B04C}"/>
              </a:ext>
            </a:extLst>
          </p:cNvPr>
          <p:cNvSpPr txBox="1"/>
          <p:nvPr/>
        </p:nvSpPr>
        <p:spPr>
          <a:xfrm>
            <a:off x="8350138" y="1031001"/>
            <a:ext cx="2794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H₀: </a:t>
            </a:r>
            <a:r>
              <a:rPr lang="en-US" b="1" i="0" dirty="0">
                <a:effectLst/>
                <a:latin typeface="system-ui"/>
              </a:rPr>
              <a:t>No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difference</a:t>
            </a:r>
            <a:r>
              <a:rPr lang="en-US" b="0" i="0" dirty="0">
                <a:effectLst/>
                <a:latin typeface="system-ui"/>
              </a:rPr>
              <a:t> in prices between </a:t>
            </a:r>
            <a:r>
              <a:rPr lang="en-US" b="1" i="0" dirty="0">
                <a:effectLst/>
                <a:latin typeface="system-ui"/>
              </a:rPr>
              <a:t>coastal</a:t>
            </a:r>
            <a:r>
              <a:rPr lang="en-US" b="0" i="0" dirty="0">
                <a:effectLst/>
                <a:latin typeface="system-ui"/>
              </a:rPr>
              <a:t> states and </a:t>
            </a:r>
            <a:r>
              <a:rPr lang="en-US" b="1" i="0" dirty="0">
                <a:effectLst/>
                <a:latin typeface="system-ui"/>
              </a:rPr>
              <a:t>inland</a:t>
            </a:r>
            <a:r>
              <a:rPr lang="en-US" b="0" i="0" dirty="0">
                <a:effectLst/>
                <a:latin typeface="system-ui"/>
              </a:rPr>
              <a:t> states.</a:t>
            </a:r>
          </a:p>
          <a:p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H₁: </a:t>
            </a:r>
            <a:r>
              <a:rPr lang="en-US" b="1" i="0" dirty="0">
                <a:effectLst/>
                <a:latin typeface="system-ui"/>
              </a:rPr>
              <a:t>Coastal</a:t>
            </a:r>
            <a:r>
              <a:rPr lang="en-US" b="0" i="0" dirty="0">
                <a:effectLst/>
                <a:latin typeface="system-ui"/>
              </a:rPr>
              <a:t> states have </a:t>
            </a:r>
            <a:r>
              <a:rPr lang="en-US" b="1" i="0" dirty="0">
                <a:effectLst/>
                <a:latin typeface="system-ui"/>
              </a:rPr>
              <a:t>higher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prices</a:t>
            </a:r>
            <a:r>
              <a:rPr lang="en-US" b="0" i="0" dirty="0">
                <a:effectLst/>
                <a:latin typeface="system-ui"/>
              </a:rPr>
              <a:t>.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98EFAB-6E47-0F44-3E3B-E68B308871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612023"/>
            <a:ext cx="7511938" cy="56339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1B8AE5-053A-9D15-1012-DFCAE0AAE817}"/>
              </a:ext>
            </a:extLst>
          </p:cNvPr>
          <p:cNvSpPr txBox="1"/>
          <p:nvPr/>
        </p:nvSpPr>
        <p:spPr>
          <a:xfrm>
            <a:off x="8350138" y="2967335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T-score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74.85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C264E-BB2A-A0A8-35BF-172EB327097A}"/>
              </a:ext>
            </a:extLst>
          </p:cNvPr>
          <p:cNvSpPr/>
          <p:nvPr/>
        </p:nvSpPr>
        <p:spPr>
          <a:xfrm>
            <a:off x="3405987" y="678048"/>
            <a:ext cx="3221879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24DE4-F9A0-EC70-50A2-FEC89A893BD9}"/>
              </a:ext>
            </a:extLst>
          </p:cNvPr>
          <p:cNvSpPr txBox="1"/>
          <p:nvPr/>
        </p:nvSpPr>
        <p:spPr>
          <a:xfrm>
            <a:off x="2806615" y="200994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Average Cost Region Versus Coastal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E37F5-A65C-FD1F-B8FB-0F96873C237E}"/>
              </a:ext>
            </a:extLst>
          </p:cNvPr>
          <p:cNvSpPr txBox="1"/>
          <p:nvPr/>
        </p:nvSpPr>
        <p:spPr>
          <a:xfrm>
            <a:off x="8350137" y="4072673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F-Stat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87,773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113405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804C-577E-FF8A-E51D-CB3E37A1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Urban Versus Suburbs Versus Suburbs</a:t>
            </a:r>
          </a:p>
        </p:txBody>
      </p:sp>
      <p:pic>
        <p:nvPicPr>
          <p:cNvPr id="5" name="Graphic 4" descr="City with solid fill">
            <a:extLst>
              <a:ext uri="{FF2B5EF4-FFF2-40B4-BE49-F238E27FC236}">
                <a16:creationId xmlns:a16="http://schemas.microsoft.com/office/drawing/2014/main" id="{282B11EE-AF57-C3E3-7869-066599CB3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804" y="2233836"/>
            <a:ext cx="3582034" cy="3582034"/>
          </a:xfrm>
          <a:prstGeom prst="rect">
            <a:avLst/>
          </a:prstGeom>
        </p:spPr>
      </p:pic>
      <p:pic>
        <p:nvPicPr>
          <p:cNvPr id="7" name="Graphic 6" descr="Farm scene with solid fill">
            <a:extLst>
              <a:ext uri="{FF2B5EF4-FFF2-40B4-BE49-F238E27FC236}">
                <a16:creationId xmlns:a16="http://schemas.microsoft.com/office/drawing/2014/main" id="{C620923A-4BE5-B3AB-7EA1-11B666996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15840" y="1754067"/>
            <a:ext cx="3849356" cy="38493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E5B42-AD80-EC48-BDB3-E9D5C1F82764}"/>
              </a:ext>
            </a:extLst>
          </p:cNvPr>
          <p:cNvSpPr txBox="1"/>
          <p:nvPr/>
        </p:nvSpPr>
        <p:spPr>
          <a:xfrm>
            <a:off x="1699896" y="5338816"/>
            <a:ext cx="10358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Urban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57BF-D4F4-C644-2B62-213000FEC539}"/>
              </a:ext>
            </a:extLst>
          </p:cNvPr>
          <p:cNvSpPr txBox="1"/>
          <p:nvPr/>
        </p:nvSpPr>
        <p:spPr>
          <a:xfrm>
            <a:off x="9343294" y="5338816"/>
            <a:ext cx="99444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Rural</a:t>
            </a:r>
          </a:p>
        </p:txBody>
      </p:sp>
      <p:pic>
        <p:nvPicPr>
          <p:cNvPr id="4" name="Graphic 3" descr="Farm scene with solid fill">
            <a:extLst>
              <a:ext uri="{FF2B5EF4-FFF2-40B4-BE49-F238E27FC236}">
                <a16:creationId xmlns:a16="http://schemas.microsoft.com/office/drawing/2014/main" id="{D25B726E-FADF-DAF9-275E-6926F1165F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3870" y="2226485"/>
            <a:ext cx="3376938" cy="3376938"/>
          </a:xfrm>
          <a:prstGeom prst="rect">
            <a:avLst/>
          </a:prstGeom>
        </p:spPr>
      </p:pic>
      <p:pic>
        <p:nvPicPr>
          <p:cNvPr id="3" name="Graphic 2" descr="City with solid fill">
            <a:extLst>
              <a:ext uri="{FF2B5EF4-FFF2-40B4-BE49-F238E27FC236}">
                <a16:creationId xmlns:a16="http://schemas.microsoft.com/office/drawing/2014/main" id="{115E9F90-8A47-047D-2ABA-69C67FB49D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6964" y="2252247"/>
            <a:ext cx="3582034" cy="35820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09FA6A-D71A-85A1-B33E-1ABA8DB0346D}"/>
              </a:ext>
            </a:extLst>
          </p:cNvPr>
          <p:cNvSpPr txBox="1"/>
          <p:nvPr/>
        </p:nvSpPr>
        <p:spPr>
          <a:xfrm>
            <a:off x="5261696" y="5338816"/>
            <a:ext cx="13925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Suburbs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3FBDC-1B2E-573B-07DC-ECA1E34269B1}"/>
              </a:ext>
            </a:extLst>
          </p:cNvPr>
          <p:cNvSpPr txBox="1"/>
          <p:nvPr/>
        </p:nvSpPr>
        <p:spPr>
          <a:xfrm>
            <a:off x="3363028" y="5934395"/>
            <a:ext cx="99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&gt;50,000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D98008-9CC1-83A0-25F2-469EA3932573}"/>
              </a:ext>
            </a:extLst>
          </p:cNvPr>
          <p:cNvSpPr txBox="1"/>
          <p:nvPr/>
        </p:nvSpPr>
        <p:spPr>
          <a:xfrm>
            <a:off x="7748998" y="5934395"/>
            <a:ext cx="99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&lt;20,000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38339A5-5A58-8BF1-1D54-80344366A03E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215109" y="6119061"/>
            <a:ext cx="2147919" cy="0"/>
          </a:xfrm>
          <a:prstGeom prst="straightConnector1">
            <a:avLst/>
          </a:prstGeom>
          <a:ln>
            <a:solidFill>
              <a:srgbClr val="98C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A4DAD3D-BA80-C027-C454-114DE4F6899B}"/>
              </a:ext>
            </a:extLst>
          </p:cNvPr>
          <p:cNvCxnSpPr>
            <a:stCxn id="12" idx="3"/>
          </p:cNvCxnSpPr>
          <p:nvPr/>
        </p:nvCxnSpPr>
        <p:spPr>
          <a:xfrm>
            <a:off x="8745101" y="6119061"/>
            <a:ext cx="2479312" cy="0"/>
          </a:xfrm>
          <a:prstGeom prst="straightConnector1">
            <a:avLst/>
          </a:prstGeom>
          <a:ln>
            <a:solidFill>
              <a:srgbClr val="98C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22E05B-2E14-1729-8DFC-784667E88C0C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359131" y="6119061"/>
            <a:ext cx="3389867" cy="0"/>
          </a:xfrm>
          <a:prstGeom prst="line">
            <a:avLst/>
          </a:prstGeom>
          <a:ln>
            <a:solidFill>
              <a:srgbClr val="98C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City with solid fill">
            <a:extLst>
              <a:ext uri="{FF2B5EF4-FFF2-40B4-BE49-F238E27FC236}">
                <a16:creationId xmlns:a16="http://schemas.microsoft.com/office/drawing/2014/main" id="{D4CFBAAF-F492-98CA-6CB2-802AFDC70F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5520" y="2252247"/>
            <a:ext cx="3582034" cy="35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52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1DE3D-6210-5C64-EB91-FAD3699B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6366A80-F72B-59DA-C634-3C5D4378DB75}"/>
              </a:ext>
            </a:extLst>
          </p:cNvPr>
          <p:cNvSpPr/>
          <p:nvPr/>
        </p:nvSpPr>
        <p:spPr>
          <a:xfrm>
            <a:off x="8350138" y="1031000"/>
            <a:ext cx="2794500" cy="47438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31EE7-ECE9-DDC0-5389-FFCAAD407B35}"/>
              </a:ext>
            </a:extLst>
          </p:cNvPr>
          <p:cNvSpPr txBox="1"/>
          <p:nvPr/>
        </p:nvSpPr>
        <p:spPr>
          <a:xfrm>
            <a:off x="8350138" y="1031001"/>
            <a:ext cx="27945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H₀: </a:t>
            </a:r>
            <a:r>
              <a:rPr lang="en-US" b="1" i="0" dirty="0">
                <a:effectLst/>
                <a:latin typeface="system-ui"/>
              </a:rPr>
              <a:t>No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difference</a:t>
            </a:r>
            <a:r>
              <a:rPr lang="en-US" b="0" i="0" dirty="0">
                <a:effectLst/>
                <a:latin typeface="system-ui"/>
              </a:rPr>
              <a:t> in prices between </a:t>
            </a:r>
            <a:r>
              <a:rPr lang="en-US" b="1" i="0" dirty="0">
                <a:effectLst/>
                <a:latin typeface="system-ui"/>
              </a:rPr>
              <a:t>Urban</a:t>
            </a:r>
            <a:r>
              <a:rPr lang="en-US" b="0" i="0" dirty="0">
                <a:effectLst/>
                <a:latin typeface="system-ui"/>
              </a:rPr>
              <a:t> Houses, </a:t>
            </a:r>
            <a:r>
              <a:rPr lang="en-US" b="1" i="0" dirty="0">
                <a:effectLst/>
                <a:latin typeface="system-ui"/>
              </a:rPr>
              <a:t>Rural</a:t>
            </a:r>
            <a:r>
              <a:rPr lang="en-US" b="0" i="0" dirty="0">
                <a:effectLst/>
                <a:latin typeface="system-ui"/>
              </a:rPr>
              <a:t> Houses, and </a:t>
            </a:r>
            <a:r>
              <a:rPr lang="en-US" b="1" i="0" dirty="0">
                <a:effectLst/>
                <a:latin typeface="system-ui"/>
              </a:rPr>
              <a:t>Suburban </a:t>
            </a:r>
            <a:r>
              <a:rPr lang="en-US" i="0" dirty="0">
                <a:effectLst/>
                <a:latin typeface="system-ui"/>
              </a:rPr>
              <a:t>Houses</a:t>
            </a:r>
            <a:r>
              <a:rPr lang="en-US" b="0" i="0" dirty="0">
                <a:effectLst/>
                <a:latin typeface="system-ui"/>
              </a:rPr>
              <a:t>.</a:t>
            </a:r>
          </a:p>
          <a:p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H₁: </a:t>
            </a:r>
            <a:r>
              <a:rPr lang="en-US" b="1" i="0" dirty="0">
                <a:effectLst/>
                <a:latin typeface="system-ui"/>
              </a:rPr>
              <a:t>Urban </a:t>
            </a:r>
            <a:r>
              <a:rPr lang="en-US" i="0" dirty="0">
                <a:effectLst/>
                <a:latin typeface="system-ui"/>
              </a:rPr>
              <a:t>Houses</a:t>
            </a:r>
            <a:r>
              <a:rPr lang="en-US" b="0" i="0" dirty="0">
                <a:effectLst/>
                <a:latin typeface="system-ui"/>
              </a:rPr>
              <a:t> have </a:t>
            </a:r>
            <a:r>
              <a:rPr lang="en-US" b="1" i="0" dirty="0">
                <a:effectLst/>
                <a:latin typeface="system-ui"/>
              </a:rPr>
              <a:t>higher</a:t>
            </a:r>
            <a:r>
              <a:rPr lang="en-US" b="0" i="0" dirty="0">
                <a:effectLst/>
                <a:latin typeface="system-ui"/>
              </a:rPr>
              <a:t> </a:t>
            </a:r>
            <a:r>
              <a:rPr lang="en-US" b="1" i="0" dirty="0">
                <a:effectLst/>
                <a:latin typeface="system-ui"/>
              </a:rPr>
              <a:t>prices</a:t>
            </a:r>
            <a:r>
              <a:rPr lang="en-US" b="0" i="0" dirty="0">
                <a:effectLst/>
                <a:latin typeface="system-ui"/>
              </a:rPr>
              <a:t>.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7BF59E-424E-7CB7-79D6-9E431C04A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882" y="612023"/>
            <a:ext cx="7638256" cy="56339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604137-FBBE-55D4-74E5-577DD7A12153}"/>
              </a:ext>
            </a:extLst>
          </p:cNvPr>
          <p:cNvSpPr txBox="1"/>
          <p:nvPr/>
        </p:nvSpPr>
        <p:spPr>
          <a:xfrm>
            <a:off x="8350137" y="3149343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T-score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38.19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4CD58-DEC1-CB9A-A1F2-D45EFBC15274}"/>
              </a:ext>
            </a:extLst>
          </p:cNvPr>
          <p:cNvSpPr/>
          <p:nvPr/>
        </p:nvSpPr>
        <p:spPr>
          <a:xfrm>
            <a:off x="3290606" y="671911"/>
            <a:ext cx="3545915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AEB86-C853-352B-9047-7AAC4E02D473}"/>
              </a:ext>
            </a:extLst>
          </p:cNvPr>
          <p:cNvSpPr txBox="1"/>
          <p:nvPr/>
        </p:nvSpPr>
        <p:spPr>
          <a:xfrm>
            <a:off x="2405670" y="233203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Average Cost per Area 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7193F-0749-A25A-DCE7-FBB7D16BC550}"/>
              </a:ext>
            </a:extLst>
          </p:cNvPr>
          <p:cNvSpPr txBox="1"/>
          <p:nvPr/>
        </p:nvSpPr>
        <p:spPr>
          <a:xfrm>
            <a:off x="8350137" y="4183139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F-Stat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5,124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</p:spTree>
    <p:extLst>
      <p:ext uri="{BB962C8B-B14F-4D97-AF65-F5344CB8AC3E}">
        <p14:creationId xmlns:p14="http://schemas.microsoft.com/office/powerpoint/2010/main" val="1192333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BEBD-198B-9EBB-0793-05970D7D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8F9A-5A18-44B6-8C0B-2C6C2AB3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 What Determines House Price?</a:t>
            </a:r>
          </a:p>
        </p:txBody>
      </p:sp>
      <p:pic>
        <p:nvPicPr>
          <p:cNvPr id="5" name="Graphic 4" descr="Sleep with solid fill">
            <a:extLst>
              <a:ext uri="{FF2B5EF4-FFF2-40B4-BE49-F238E27FC236}">
                <a16:creationId xmlns:a16="http://schemas.microsoft.com/office/drawing/2014/main" id="{FC8C7C2B-BA9C-729A-0D82-70394946F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0626" y="2648472"/>
            <a:ext cx="1389617" cy="1389617"/>
          </a:xfrm>
          <a:prstGeom prst="rect">
            <a:avLst/>
          </a:prstGeom>
        </p:spPr>
      </p:pic>
      <p:pic>
        <p:nvPicPr>
          <p:cNvPr id="9" name="Graphic 8" descr="Rolling hills with solid fill">
            <a:extLst>
              <a:ext uri="{FF2B5EF4-FFF2-40B4-BE49-F238E27FC236}">
                <a16:creationId xmlns:a16="http://schemas.microsoft.com/office/drawing/2014/main" id="{F79BB885-353D-49CD-7248-10169EC79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495" y="2605513"/>
            <a:ext cx="1389617" cy="1389617"/>
          </a:xfrm>
          <a:prstGeom prst="rect">
            <a:avLst/>
          </a:prstGeom>
        </p:spPr>
      </p:pic>
      <p:pic>
        <p:nvPicPr>
          <p:cNvPr id="11" name="Graphic 10" descr="House with solid fill">
            <a:extLst>
              <a:ext uri="{FF2B5EF4-FFF2-40B4-BE49-F238E27FC236}">
                <a16:creationId xmlns:a16="http://schemas.microsoft.com/office/drawing/2014/main" id="{54AFCBF2-963D-DA16-5865-FCCDABD0C9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1190" y="1451345"/>
            <a:ext cx="1389617" cy="1389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B83871-0667-F583-482E-98281C156B3A}"/>
              </a:ext>
            </a:extLst>
          </p:cNvPr>
          <p:cNvSpPr txBox="1"/>
          <p:nvPr/>
        </p:nvSpPr>
        <p:spPr>
          <a:xfrm>
            <a:off x="2017570" y="3903077"/>
            <a:ext cx="138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Bedrooms?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D63D08-3E21-8345-9FB6-92EA5873CCE4}"/>
              </a:ext>
            </a:extLst>
          </p:cNvPr>
          <p:cNvSpPr txBox="1"/>
          <p:nvPr/>
        </p:nvSpPr>
        <p:spPr>
          <a:xfrm>
            <a:off x="5401190" y="2734605"/>
            <a:ext cx="138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House Size?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E2BDA-2F39-7BCB-A228-9D9311B45411}"/>
              </a:ext>
            </a:extLst>
          </p:cNvPr>
          <p:cNvSpPr txBox="1"/>
          <p:nvPr/>
        </p:nvSpPr>
        <p:spPr>
          <a:xfrm>
            <a:off x="8658562" y="3896940"/>
            <a:ext cx="82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Land?</a:t>
            </a:r>
          </a:p>
        </p:txBody>
      </p:sp>
      <p:pic>
        <p:nvPicPr>
          <p:cNvPr id="16" name="Graphic 15" descr="City with solid fill">
            <a:extLst>
              <a:ext uri="{FF2B5EF4-FFF2-40B4-BE49-F238E27FC236}">
                <a16:creationId xmlns:a16="http://schemas.microsoft.com/office/drawing/2014/main" id="{DE1E8461-F859-3040-B146-422FDC3C0F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9184" y="2493738"/>
            <a:ext cx="4238142" cy="42381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35365CB-07D2-C983-8AC7-129AB1803B44}"/>
              </a:ext>
            </a:extLst>
          </p:cNvPr>
          <p:cNvSpPr txBox="1"/>
          <p:nvPr/>
        </p:nvSpPr>
        <p:spPr>
          <a:xfrm>
            <a:off x="3713027" y="5952090"/>
            <a:ext cx="476594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/>
              <a:t>Location?</a:t>
            </a:r>
          </a:p>
        </p:txBody>
      </p:sp>
    </p:spTree>
    <p:extLst>
      <p:ext uri="{BB962C8B-B14F-4D97-AF65-F5344CB8AC3E}">
        <p14:creationId xmlns:p14="http://schemas.microsoft.com/office/powerpoint/2010/main" val="1397030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EFA6-773D-6390-C220-B5B2865B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8" y="35285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Price Categories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E69682-C83F-FA05-4143-34972124A9A2}"/>
              </a:ext>
            </a:extLst>
          </p:cNvPr>
          <p:cNvSpPr txBox="1"/>
          <p:nvPr/>
        </p:nvSpPr>
        <p:spPr>
          <a:xfrm>
            <a:off x="4087696" y="3415173"/>
            <a:ext cx="14038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Moderate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50DCE-7A3E-418F-50B6-ED2F102C2CE1}"/>
              </a:ext>
            </a:extLst>
          </p:cNvPr>
          <p:cNvSpPr txBox="1"/>
          <p:nvPr/>
        </p:nvSpPr>
        <p:spPr>
          <a:xfrm>
            <a:off x="1131748" y="3415173"/>
            <a:ext cx="14518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Affordable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3E1A22-0068-F179-A441-64DE22EF2DDA}"/>
              </a:ext>
            </a:extLst>
          </p:cNvPr>
          <p:cNvSpPr txBox="1"/>
          <p:nvPr/>
        </p:nvSpPr>
        <p:spPr>
          <a:xfrm>
            <a:off x="10290070" y="3415173"/>
            <a:ext cx="1008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Luxury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86476-0611-D79A-0963-B92FBD5582C5}"/>
              </a:ext>
            </a:extLst>
          </p:cNvPr>
          <p:cNvSpPr txBox="1"/>
          <p:nvPr/>
        </p:nvSpPr>
        <p:spPr>
          <a:xfrm>
            <a:off x="6940851" y="3415173"/>
            <a:ext cx="14038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Expensive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964463-44BE-B641-EBC1-CEB3170FF05B}"/>
              </a:ext>
            </a:extLst>
          </p:cNvPr>
          <p:cNvCxnSpPr/>
          <p:nvPr/>
        </p:nvCxnSpPr>
        <p:spPr>
          <a:xfrm>
            <a:off x="914400" y="2882197"/>
            <a:ext cx="10481847" cy="0"/>
          </a:xfrm>
          <a:prstGeom prst="line">
            <a:avLst/>
          </a:prstGeom>
          <a:ln>
            <a:solidFill>
              <a:srgbClr val="6CC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F28189-4004-E4AA-BC94-3A07B7D45FFB}"/>
              </a:ext>
            </a:extLst>
          </p:cNvPr>
          <p:cNvCxnSpPr>
            <a:cxnSpLocks/>
          </p:cNvCxnSpPr>
          <p:nvPr/>
        </p:nvCxnSpPr>
        <p:spPr>
          <a:xfrm>
            <a:off x="3093004" y="2793211"/>
            <a:ext cx="0" cy="991294"/>
          </a:xfrm>
          <a:prstGeom prst="line">
            <a:avLst/>
          </a:prstGeom>
          <a:ln>
            <a:solidFill>
              <a:srgbClr val="98C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F2A75C-B31E-5055-E387-B7AD63D5D8AB}"/>
              </a:ext>
            </a:extLst>
          </p:cNvPr>
          <p:cNvCxnSpPr>
            <a:cxnSpLocks/>
          </p:cNvCxnSpPr>
          <p:nvPr/>
        </p:nvCxnSpPr>
        <p:spPr>
          <a:xfrm>
            <a:off x="6000878" y="2793211"/>
            <a:ext cx="0" cy="991294"/>
          </a:xfrm>
          <a:prstGeom prst="line">
            <a:avLst/>
          </a:prstGeom>
          <a:ln>
            <a:solidFill>
              <a:srgbClr val="98C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0FE23D-3BCB-AE65-EE0A-630343E8DDD2}"/>
              </a:ext>
            </a:extLst>
          </p:cNvPr>
          <p:cNvCxnSpPr>
            <a:cxnSpLocks/>
          </p:cNvCxnSpPr>
          <p:nvPr/>
        </p:nvCxnSpPr>
        <p:spPr>
          <a:xfrm>
            <a:off x="9106155" y="2793211"/>
            <a:ext cx="0" cy="991294"/>
          </a:xfrm>
          <a:prstGeom prst="line">
            <a:avLst/>
          </a:prstGeom>
          <a:ln>
            <a:solidFill>
              <a:srgbClr val="98C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013C3F-7963-B5C6-8DE0-2639E637BE02}"/>
              </a:ext>
            </a:extLst>
          </p:cNvPr>
          <p:cNvSpPr txBox="1"/>
          <p:nvPr/>
        </p:nvSpPr>
        <p:spPr>
          <a:xfrm>
            <a:off x="2436355" y="2379386"/>
            <a:ext cx="131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$ 300,000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46E0C3-A670-52F4-C166-EF171620A08A}"/>
              </a:ext>
            </a:extLst>
          </p:cNvPr>
          <p:cNvSpPr txBox="1"/>
          <p:nvPr/>
        </p:nvSpPr>
        <p:spPr>
          <a:xfrm>
            <a:off x="5344229" y="2380360"/>
            <a:ext cx="131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$ 600,000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2D8260-95CC-8444-9D4A-BA27088B600D}"/>
              </a:ext>
            </a:extLst>
          </p:cNvPr>
          <p:cNvSpPr txBox="1"/>
          <p:nvPr/>
        </p:nvSpPr>
        <p:spPr>
          <a:xfrm>
            <a:off x="8449506" y="2379386"/>
            <a:ext cx="139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$ 1,000,000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8B76D-334E-414D-4488-37EF5A0B0184}"/>
              </a:ext>
            </a:extLst>
          </p:cNvPr>
          <p:cNvSpPr txBox="1"/>
          <p:nvPr/>
        </p:nvSpPr>
        <p:spPr>
          <a:xfrm>
            <a:off x="4905695" y="4918312"/>
            <a:ext cx="23806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Baseline: 47.41%</a:t>
            </a:r>
          </a:p>
        </p:txBody>
      </p:sp>
    </p:spTree>
    <p:extLst>
      <p:ext uri="{BB962C8B-B14F-4D97-AF65-F5344CB8AC3E}">
        <p14:creationId xmlns:p14="http://schemas.microsoft.com/office/powerpoint/2010/main" val="380765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6DD47-18A8-51BD-78AB-EFD84848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DC39E43-0EF0-0896-8822-559FA045B641}"/>
              </a:ext>
            </a:extLst>
          </p:cNvPr>
          <p:cNvSpPr/>
          <p:nvPr/>
        </p:nvSpPr>
        <p:spPr>
          <a:xfrm>
            <a:off x="9478618" y="1024863"/>
            <a:ext cx="2713382" cy="47959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FF6EDB-105C-2BCF-101D-D654FADDF490}"/>
              </a:ext>
            </a:extLst>
          </p:cNvPr>
          <p:cNvSpPr txBox="1"/>
          <p:nvPr/>
        </p:nvSpPr>
        <p:spPr>
          <a:xfrm>
            <a:off x="9478618" y="1031001"/>
            <a:ext cx="27133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H₀: </a:t>
            </a:r>
            <a:r>
              <a:rPr lang="en-US" b="1" dirty="0">
                <a:effectLst/>
                <a:latin typeface="system-ui"/>
              </a:rPr>
              <a:t>No</a:t>
            </a:r>
            <a:r>
              <a:rPr lang="en-US" b="0" dirty="0">
                <a:effectLst/>
                <a:latin typeface="system-ui"/>
              </a:rPr>
              <a:t> </a:t>
            </a:r>
            <a:r>
              <a:rPr lang="en-US" b="1" dirty="0">
                <a:effectLst/>
                <a:latin typeface="system-ui"/>
              </a:rPr>
              <a:t>difference </a:t>
            </a:r>
            <a:r>
              <a:rPr lang="en-US" dirty="0">
                <a:effectLst/>
                <a:latin typeface="system-ui"/>
              </a:rPr>
              <a:t>Accuracy when adding state</a:t>
            </a:r>
            <a:r>
              <a:rPr lang="en-US" b="0" i="0" dirty="0">
                <a:effectLst/>
                <a:latin typeface="system-ui"/>
              </a:rPr>
              <a:t>.</a:t>
            </a:r>
          </a:p>
          <a:p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H₁:</a:t>
            </a:r>
            <a:r>
              <a:rPr lang="en-US" dirty="0">
                <a:latin typeface="system-ui"/>
              </a:rPr>
              <a:t> </a:t>
            </a:r>
            <a:r>
              <a:rPr lang="en-US" b="1" dirty="0">
                <a:latin typeface="system-ui"/>
              </a:rPr>
              <a:t>Adding</a:t>
            </a:r>
            <a:r>
              <a:rPr lang="en-US" dirty="0">
                <a:latin typeface="system-ui"/>
              </a:rPr>
              <a:t> state would </a:t>
            </a:r>
            <a:r>
              <a:rPr lang="en-US" b="1" dirty="0">
                <a:latin typeface="system-ui"/>
              </a:rPr>
              <a:t>increase</a:t>
            </a:r>
            <a:r>
              <a:rPr lang="en-US" dirty="0">
                <a:latin typeface="system-ui"/>
              </a:rPr>
              <a:t> </a:t>
            </a:r>
            <a:r>
              <a:rPr lang="en-US" b="1" dirty="0">
                <a:latin typeface="system-ui"/>
              </a:rPr>
              <a:t>Accuracy</a:t>
            </a:r>
            <a:r>
              <a:rPr lang="en-US" b="0" i="0" dirty="0">
                <a:effectLst/>
                <a:latin typeface="system-ui"/>
              </a:rPr>
              <a:t>.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B35F03-FAA5-0DD8-E0A2-D1899FE28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941" y="612023"/>
            <a:ext cx="9131726" cy="56339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852E55D-1082-15D2-0534-111286EB0229}"/>
              </a:ext>
            </a:extLst>
          </p:cNvPr>
          <p:cNvSpPr txBox="1"/>
          <p:nvPr/>
        </p:nvSpPr>
        <p:spPr>
          <a:xfrm>
            <a:off x="9478619" y="2967335"/>
            <a:ext cx="1784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T-score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30.47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0.0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66AB9B-9038-0646-2EB8-45C4BAA62646}"/>
              </a:ext>
            </a:extLst>
          </p:cNvPr>
          <p:cNvSpPr txBox="1"/>
          <p:nvPr/>
        </p:nvSpPr>
        <p:spPr>
          <a:xfrm>
            <a:off x="1503544" y="1871595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58.1%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CCFE6-E240-C74A-765A-2C09E8401C70}"/>
              </a:ext>
            </a:extLst>
          </p:cNvPr>
          <p:cNvSpPr txBox="1"/>
          <p:nvPr/>
        </p:nvSpPr>
        <p:spPr>
          <a:xfrm>
            <a:off x="2479309" y="1317597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65.8%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383AB-AC0B-865D-1296-34DE1B885F44}"/>
              </a:ext>
            </a:extLst>
          </p:cNvPr>
          <p:cNvSpPr txBox="1"/>
          <p:nvPr/>
        </p:nvSpPr>
        <p:spPr>
          <a:xfrm>
            <a:off x="4321999" y="1871595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57.9%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D7964-B001-B507-0E4D-31A234C73403}"/>
              </a:ext>
            </a:extLst>
          </p:cNvPr>
          <p:cNvSpPr txBox="1"/>
          <p:nvPr/>
        </p:nvSpPr>
        <p:spPr>
          <a:xfrm>
            <a:off x="5301623" y="1296373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66.5%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E5EF80-7195-6889-C9E9-0A965185559B}"/>
              </a:ext>
            </a:extLst>
          </p:cNvPr>
          <p:cNvSpPr txBox="1"/>
          <p:nvPr/>
        </p:nvSpPr>
        <p:spPr>
          <a:xfrm>
            <a:off x="7043131" y="1871595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58.3%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4748D-2B05-4C6E-339E-3D5F95961B42}"/>
              </a:ext>
            </a:extLst>
          </p:cNvPr>
          <p:cNvSpPr txBox="1"/>
          <p:nvPr/>
        </p:nvSpPr>
        <p:spPr>
          <a:xfrm>
            <a:off x="8021970" y="1317597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65.8%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10AACA-F3CB-3D48-8A18-51C7928EBDE1}"/>
              </a:ext>
            </a:extLst>
          </p:cNvPr>
          <p:cNvSpPr txBox="1"/>
          <p:nvPr/>
        </p:nvSpPr>
        <p:spPr>
          <a:xfrm>
            <a:off x="7609148" y="3432350"/>
            <a:ext cx="12755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7.5+%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E0A9B-E284-BB4C-0D62-B9E32229E22E}"/>
              </a:ext>
            </a:extLst>
          </p:cNvPr>
          <p:cNvSpPr txBox="1"/>
          <p:nvPr/>
        </p:nvSpPr>
        <p:spPr>
          <a:xfrm>
            <a:off x="4829751" y="3443089"/>
            <a:ext cx="12212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8.6+%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AF0AD2-1FEC-61AA-B952-CA1D958ECE51}"/>
              </a:ext>
            </a:extLst>
          </p:cNvPr>
          <p:cNvSpPr txBox="1"/>
          <p:nvPr/>
        </p:nvSpPr>
        <p:spPr>
          <a:xfrm>
            <a:off x="2061710" y="3443089"/>
            <a:ext cx="1449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7.7+%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9A371C-ECDB-31FD-824E-9625B7FAA3A6}"/>
              </a:ext>
            </a:extLst>
          </p:cNvPr>
          <p:cNvSpPr/>
          <p:nvPr/>
        </p:nvSpPr>
        <p:spPr>
          <a:xfrm>
            <a:off x="3295522" y="701203"/>
            <a:ext cx="3747609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758192-F13A-772A-CDEA-19A747EC3CA7}"/>
              </a:ext>
            </a:extLst>
          </p:cNvPr>
          <p:cNvSpPr txBox="1"/>
          <p:nvPr/>
        </p:nvSpPr>
        <p:spPr>
          <a:xfrm>
            <a:off x="2405670" y="233203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Decision Tree Improvement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884E1-6E44-ED99-D146-9169C28D6712}"/>
              </a:ext>
            </a:extLst>
          </p:cNvPr>
          <p:cNvSpPr txBox="1"/>
          <p:nvPr/>
        </p:nvSpPr>
        <p:spPr>
          <a:xfrm>
            <a:off x="9478617" y="4059992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F-Stat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2.30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83CDBE-34A9-F340-078F-8B118C502CCF}"/>
              </a:ext>
            </a:extLst>
          </p:cNvPr>
          <p:cNvSpPr txBox="1"/>
          <p:nvPr/>
        </p:nvSpPr>
        <p:spPr>
          <a:xfrm>
            <a:off x="152195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Without State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20F30-F678-3573-EC81-B6009C786F31}"/>
              </a:ext>
            </a:extLst>
          </p:cNvPr>
          <p:cNvSpPr txBox="1"/>
          <p:nvPr/>
        </p:nvSpPr>
        <p:spPr>
          <a:xfrm>
            <a:off x="429438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Without State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1F43F5-C12B-15A1-D266-8E4A49B24383}"/>
              </a:ext>
            </a:extLst>
          </p:cNvPr>
          <p:cNvSpPr txBox="1"/>
          <p:nvPr/>
        </p:nvSpPr>
        <p:spPr>
          <a:xfrm>
            <a:off x="706681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Without State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1E2ABA-F954-C2D4-AE58-8B38A7D9496A}"/>
              </a:ext>
            </a:extLst>
          </p:cNvPr>
          <p:cNvSpPr txBox="1"/>
          <p:nvPr/>
        </p:nvSpPr>
        <p:spPr>
          <a:xfrm>
            <a:off x="2519123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 State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7A860-E451-B32C-5983-317E16B8AAC2}"/>
              </a:ext>
            </a:extLst>
          </p:cNvPr>
          <p:cNvSpPr txBox="1"/>
          <p:nvPr/>
        </p:nvSpPr>
        <p:spPr>
          <a:xfrm>
            <a:off x="533381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C95407-4AB1-8FCC-DCF5-E65EA5C74ECF}"/>
              </a:ext>
            </a:extLst>
          </p:cNvPr>
          <p:cNvSpPr txBox="1"/>
          <p:nvPr/>
        </p:nvSpPr>
        <p:spPr>
          <a:xfrm>
            <a:off x="8042586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 State</a:t>
            </a:r>
          </a:p>
        </p:txBody>
      </p:sp>
    </p:spTree>
    <p:extLst>
      <p:ext uri="{BB962C8B-B14F-4D97-AF65-F5344CB8AC3E}">
        <p14:creationId xmlns:p14="http://schemas.microsoft.com/office/powerpoint/2010/main" val="3909359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E9E5-680E-CE26-FF99-1EF0EB92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Finding the Right House</a:t>
            </a:r>
          </a:p>
        </p:txBody>
      </p:sp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B222EDE2-E93E-7A97-CFFC-4D72FB079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899" y="3233705"/>
            <a:ext cx="1389617" cy="1389617"/>
          </a:xfrm>
          <a:prstGeom prst="rect">
            <a:avLst/>
          </a:prstGeom>
        </p:spPr>
      </p:pic>
      <p:pic>
        <p:nvPicPr>
          <p:cNvPr id="5" name="Graphic 4" descr="Rolling hills with solid fill">
            <a:extLst>
              <a:ext uri="{FF2B5EF4-FFF2-40B4-BE49-F238E27FC236}">
                <a16:creationId xmlns:a16="http://schemas.microsoft.com/office/drawing/2014/main" id="{FE8B7004-2B74-2F17-CB7D-D7256D8EA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0679" y="4278235"/>
            <a:ext cx="1389617" cy="1389617"/>
          </a:xfrm>
          <a:prstGeom prst="rect">
            <a:avLst/>
          </a:prstGeom>
        </p:spPr>
      </p:pic>
      <p:pic>
        <p:nvPicPr>
          <p:cNvPr id="6" name="Graphic 5" descr="House with solid fill">
            <a:extLst>
              <a:ext uri="{FF2B5EF4-FFF2-40B4-BE49-F238E27FC236}">
                <a16:creationId xmlns:a16="http://schemas.microsoft.com/office/drawing/2014/main" id="{F377B34B-DD19-B2FC-3632-2F971D9C4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81400" y="3073284"/>
            <a:ext cx="1389617" cy="1389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75B854-074D-27DA-6E6D-AFEC90121C0C}"/>
              </a:ext>
            </a:extLst>
          </p:cNvPr>
          <p:cNvSpPr txBox="1"/>
          <p:nvPr/>
        </p:nvSpPr>
        <p:spPr>
          <a:xfrm>
            <a:off x="8950026" y="4278171"/>
            <a:ext cx="138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Bed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F3E1C8-61BD-4135-1872-9F7145BA61E2}"/>
              </a:ext>
            </a:extLst>
          </p:cNvPr>
          <p:cNvSpPr txBox="1"/>
          <p:nvPr/>
        </p:nvSpPr>
        <p:spPr>
          <a:xfrm>
            <a:off x="1270510" y="4280808"/>
            <a:ext cx="1907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House Size 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B937C-6213-1D6A-C8FB-FCD3AC45616E}"/>
              </a:ext>
            </a:extLst>
          </p:cNvPr>
          <p:cNvSpPr txBox="1"/>
          <p:nvPr/>
        </p:nvSpPr>
        <p:spPr>
          <a:xfrm>
            <a:off x="3433164" y="5573487"/>
            <a:ext cx="170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Acreage Score</a:t>
            </a:r>
          </a:p>
        </p:txBody>
      </p:sp>
      <p:pic>
        <p:nvPicPr>
          <p:cNvPr id="11" name="Graphic 10" descr="Rubber duck with solid fill">
            <a:extLst>
              <a:ext uri="{FF2B5EF4-FFF2-40B4-BE49-F238E27FC236}">
                <a16:creationId xmlns:a16="http://schemas.microsoft.com/office/drawing/2014/main" id="{E6079355-1408-0809-089F-B30869078A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3777" y="4335931"/>
            <a:ext cx="1499455" cy="14994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C9A98A-40B6-14A2-6052-FD26D6B77741}"/>
              </a:ext>
            </a:extLst>
          </p:cNvPr>
          <p:cNvSpPr txBox="1"/>
          <p:nvPr/>
        </p:nvSpPr>
        <p:spPr>
          <a:xfrm>
            <a:off x="6756864" y="5572902"/>
            <a:ext cx="127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Bath Score</a:t>
            </a:r>
          </a:p>
        </p:txBody>
      </p:sp>
      <p:pic>
        <p:nvPicPr>
          <p:cNvPr id="14" name="Graphic 13" descr="Wave with solid fill">
            <a:extLst>
              <a:ext uri="{FF2B5EF4-FFF2-40B4-BE49-F238E27FC236}">
                <a16:creationId xmlns:a16="http://schemas.microsoft.com/office/drawing/2014/main" id="{8686F45C-8F97-7F8D-4887-6C3928D8C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7997" y="1594186"/>
            <a:ext cx="1218434" cy="1218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CABD52-1BEC-D547-AAD7-30F1B0132727}"/>
              </a:ext>
            </a:extLst>
          </p:cNvPr>
          <p:cNvSpPr txBox="1"/>
          <p:nvPr/>
        </p:nvSpPr>
        <p:spPr>
          <a:xfrm>
            <a:off x="870376" y="2630061"/>
            <a:ext cx="171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Coastal Score</a:t>
            </a:r>
          </a:p>
        </p:txBody>
      </p:sp>
      <p:pic>
        <p:nvPicPr>
          <p:cNvPr id="17" name="Graphic 16" descr="Flying Money with solid fill">
            <a:extLst>
              <a:ext uri="{FF2B5EF4-FFF2-40B4-BE49-F238E27FC236}">
                <a16:creationId xmlns:a16="http://schemas.microsoft.com/office/drawing/2014/main" id="{CFF84048-779F-4B9D-8A07-6A3FD331CB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72859" y="1693260"/>
            <a:ext cx="1034323" cy="10343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82F199-CE7C-405D-CAEA-FE50E27646A6}"/>
              </a:ext>
            </a:extLst>
          </p:cNvPr>
          <p:cNvSpPr txBox="1"/>
          <p:nvPr/>
        </p:nvSpPr>
        <p:spPr>
          <a:xfrm>
            <a:off x="9857657" y="2630061"/>
            <a:ext cx="1149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 Score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C897BE-D0EC-397F-D5C7-584EA0F0E3F6}"/>
              </a:ext>
            </a:extLst>
          </p:cNvPr>
          <p:cNvSpPr/>
          <p:nvPr/>
        </p:nvSpPr>
        <p:spPr>
          <a:xfrm>
            <a:off x="4839267" y="1881546"/>
            <a:ext cx="1951539" cy="19515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567B28-A078-3131-2662-76BF04F2C32F}"/>
              </a:ext>
            </a:extLst>
          </p:cNvPr>
          <p:cNvSpPr txBox="1"/>
          <p:nvPr/>
        </p:nvSpPr>
        <p:spPr>
          <a:xfrm>
            <a:off x="5091487" y="2534149"/>
            <a:ext cx="1447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Weighted Score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FC83B2-AC1F-CB20-8084-86BA7485EF2E}"/>
              </a:ext>
            </a:extLst>
          </p:cNvPr>
          <p:cNvCxnSpPr>
            <a:endCxn id="19" idx="1"/>
          </p:cNvCxnSpPr>
          <p:nvPr/>
        </p:nvCxnSpPr>
        <p:spPr>
          <a:xfrm flipV="1">
            <a:off x="2224446" y="2167342"/>
            <a:ext cx="2900617" cy="98483"/>
          </a:xfrm>
          <a:prstGeom prst="straightConnector1">
            <a:avLst/>
          </a:prstGeom>
          <a:ln>
            <a:solidFill>
              <a:srgbClr val="6CC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923171-4D96-BE6F-5F7F-D109D861104E}"/>
              </a:ext>
            </a:extLst>
          </p:cNvPr>
          <p:cNvCxnSpPr>
            <a:stCxn id="6" idx="3"/>
            <a:endCxn id="19" idx="2"/>
          </p:cNvCxnSpPr>
          <p:nvPr/>
        </p:nvCxnSpPr>
        <p:spPr>
          <a:xfrm flipV="1">
            <a:off x="2871017" y="2857316"/>
            <a:ext cx="1968250" cy="910777"/>
          </a:xfrm>
          <a:prstGeom prst="straightConnector1">
            <a:avLst/>
          </a:prstGeom>
          <a:ln>
            <a:solidFill>
              <a:srgbClr val="98C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11AB93-31FB-F63F-E897-4353089BE53C}"/>
              </a:ext>
            </a:extLst>
          </p:cNvPr>
          <p:cNvCxnSpPr>
            <a:endCxn id="19" idx="3"/>
          </p:cNvCxnSpPr>
          <p:nvPr/>
        </p:nvCxnSpPr>
        <p:spPr>
          <a:xfrm flipV="1">
            <a:off x="4335085" y="3547289"/>
            <a:ext cx="789978" cy="762450"/>
          </a:xfrm>
          <a:prstGeom prst="straightConnector1">
            <a:avLst/>
          </a:prstGeom>
          <a:ln>
            <a:solidFill>
              <a:srgbClr val="AD74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68810D-D680-3CB5-641E-D7B3255A2713}"/>
              </a:ext>
            </a:extLst>
          </p:cNvPr>
          <p:cNvCxnSpPr>
            <a:endCxn id="19" idx="5"/>
          </p:cNvCxnSpPr>
          <p:nvPr/>
        </p:nvCxnSpPr>
        <p:spPr>
          <a:xfrm flipH="1" flipV="1">
            <a:off x="6505010" y="3547289"/>
            <a:ext cx="920302" cy="807268"/>
          </a:xfrm>
          <a:prstGeom prst="straightConnector1">
            <a:avLst/>
          </a:prstGeom>
          <a:ln>
            <a:solidFill>
              <a:srgbClr val="6CC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A65C29-C9B1-1F4E-F9AD-790D0EA67CC9}"/>
              </a:ext>
            </a:extLst>
          </p:cNvPr>
          <p:cNvCxnSpPr>
            <a:endCxn id="19" idx="6"/>
          </p:cNvCxnSpPr>
          <p:nvPr/>
        </p:nvCxnSpPr>
        <p:spPr>
          <a:xfrm flipH="1" flipV="1">
            <a:off x="6790806" y="2857316"/>
            <a:ext cx="1968250" cy="1071198"/>
          </a:xfrm>
          <a:prstGeom prst="straightConnector1">
            <a:avLst/>
          </a:prstGeom>
          <a:ln>
            <a:solidFill>
              <a:srgbClr val="6CC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EB8D5F3-48BC-2AE2-AA80-AE5DAB34F9BF}"/>
              </a:ext>
            </a:extLst>
          </p:cNvPr>
          <p:cNvCxnSpPr>
            <a:endCxn id="19" idx="7"/>
          </p:cNvCxnSpPr>
          <p:nvPr/>
        </p:nvCxnSpPr>
        <p:spPr>
          <a:xfrm flipH="1" flipV="1">
            <a:off x="6505010" y="2167342"/>
            <a:ext cx="3516569" cy="98483"/>
          </a:xfrm>
          <a:prstGeom prst="straightConnector1">
            <a:avLst/>
          </a:prstGeom>
          <a:ln>
            <a:solidFill>
              <a:srgbClr val="98C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7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75E5F-AF19-85C0-0BFA-BD10DF33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Best House</a:t>
            </a:r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0A1647AE-39B4-A625-0896-396EECCD5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8137"/>
            <a:ext cx="5048616" cy="4294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087F5B-B5F9-FB43-F845-83D0210C1E77}"/>
              </a:ext>
            </a:extLst>
          </p:cNvPr>
          <p:cNvSpPr txBox="1"/>
          <p:nvPr/>
        </p:nvSpPr>
        <p:spPr>
          <a:xfrm>
            <a:off x="6149698" y="2618038"/>
            <a:ext cx="3067946" cy="19082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5 Bed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4 Bath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14.80 Acres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2,313 Square Feet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BAD59-2C66-AB58-8917-38A19B35CD6D}"/>
              </a:ext>
            </a:extLst>
          </p:cNvPr>
          <p:cNvSpPr txBox="1"/>
          <p:nvPr/>
        </p:nvSpPr>
        <p:spPr>
          <a:xfrm>
            <a:off x="6096000" y="1933128"/>
            <a:ext cx="57114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Monticello, Georgia (</a:t>
            </a:r>
            <a:r>
              <a:rPr lang="en-US" sz="3000" b="0" i="0" dirty="0">
                <a:effectLst/>
                <a:latin typeface="Roboto" panose="02000000000000000000" pitchFamily="2" charset="0"/>
              </a:rPr>
              <a:t>2,833 Pop.)</a:t>
            </a:r>
            <a:r>
              <a:rPr lang="en-US" sz="3000" b="0" i="0" dirty="0">
                <a:solidFill>
                  <a:srgbClr val="CDCDCD"/>
                </a:solidFill>
                <a:effectLst/>
                <a:latin typeface="Roboto" panose="02000000000000000000" pitchFamily="2" charset="0"/>
              </a:rPr>
              <a:t> </a:t>
            </a:r>
            <a:endParaRPr 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989EA-DA5A-E255-84AD-E8F4459EECEA}"/>
              </a:ext>
            </a:extLst>
          </p:cNvPr>
          <p:cNvSpPr txBox="1"/>
          <p:nvPr/>
        </p:nvSpPr>
        <p:spPr>
          <a:xfrm>
            <a:off x="6284199" y="4526253"/>
            <a:ext cx="179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 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5EBE4-0AB5-CFA6-7C4B-B891C138D587}"/>
              </a:ext>
            </a:extLst>
          </p:cNvPr>
          <p:cNvSpPr txBox="1"/>
          <p:nvPr/>
        </p:nvSpPr>
        <p:spPr>
          <a:xfrm>
            <a:off x="9825709" y="4895585"/>
            <a:ext cx="1528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$369,000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37061-5971-2869-E1EF-B092738A18B4}"/>
              </a:ext>
            </a:extLst>
          </p:cNvPr>
          <p:cNvSpPr txBox="1"/>
          <p:nvPr/>
        </p:nvSpPr>
        <p:spPr>
          <a:xfrm>
            <a:off x="9615027" y="4525501"/>
            <a:ext cx="1798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Actual Price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6D994-8717-1C67-31CC-B8E732ABB3B7}"/>
              </a:ext>
            </a:extLst>
          </p:cNvPr>
          <p:cNvSpPr txBox="1"/>
          <p:nvPr/>
        </p:nvSpPr>
        <p:spPr>
          <a:xfrm>
            <a:off x="6451193" y="4894833"/>
            <a:ext cx="1528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&gt;</a:t>
            </a:r>
            <a:r>
              <a:rPr lang="en-US" sz="1800" dirty="0"/>
              <a:t>$300,000</a:t>
            </a:r>
          </a:p>
        </p:txBody>
      </p:sp>
    </p:spTree>
    <p:extLst>
      <p:ext uri="{BB962C8B-B14F-4D97-AF65-F5344CB8AC3E}">
        <p14:creationId xmlns:p14="http://schemas.microsoft.com/office/powerpoint/2010/main" val="2822999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7C4A-BE46-425A-B3F6-823AA2ADE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Location is Important!</a:t>
            </a:r>
          </a:p>
        </p:txBody>
      </p:sp>
      <p:pic>
        <p:nvPicPr>
          <p:cNvPr id="5" name="Graphic 4" descr="Home1 with solid fill">
            <a:extLst>
              <a:ext uri="{FF2B5EF4-FFF2-40B4-BE49-F238E27FC236}">
                <a16:creationId xmlns:a16="http://schemas.microsoft.com/office/drawing/2014/main" id="{FE4542A6-BD7F-7C0F-6B97-CB2D0CD46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880" y="2285968"/>
            <a:ext cx="2566764" cy="2566764"/>
          </a:xfrm>
          <a:prstGeom prst="rect">
            <a:avLst/>
          </a:prstGeom>
        </p:spPr>
      </p:pic>
      <p:pic>
        <p:nvPicPr>
          <p:cNvPr id="6" name="Graphic 5" descr="Home1 with solid fill">
            <a:extLst>
              <a:ext uri="{FF2B5EF4-FFF2-40B4-BE49-F238E27FC236}">
                <a16:creationId xmlns:a16="http://schemas.microsoft.com/office/drawing/2014/main" id="{4A6107AF-A996-145F-39F0-FD6D5049C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458" y="2285968"/>
            <a:ext cx="2566764" cy="2566764"/>
          </a:xfrm>
          <a:prstGeom prst="rect">
            <a:avLst/>
          </a:prstGeom>
        </p:spPr>
      </p:pic>
      <p:pic>
        <p:nvPicPr>
          <p:cNvPr id="7" name="Graphic 6" descr="Home1 with solid fill">
            <a:extLst>
              <a:ext uri="{FF2B5EF4-FFF2-40B4-BE49-F238E27FC236}">
                <a16:creationId xmlns:a16="http://schemas.microsoft.com/office/drawing/2014/main" id="{8C622382-BB81-B57A-3303-5487370862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7036" y="2285968"/>
            <a:ext cx="2566764" cy="25667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4E1527-9DDD-E7BA-C4D7-15BD2F0ECF64}"/>
              </a:ext>
            </a:extLst>
          </p:cNvPr>
          <p:cNvSpPr txBox="1"/>
          <p:nvPr/>
        </p:nvSpPr>
        <p:spPr>
          <a:xfrm>
            <a:off x="1143444" y="4660248"/>
            <a:ext cx="209959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Hawaii $$$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5E8AD-0A01-821C-CF7E-B1609C1EAF68}"/>
              </a:ext>
            </a:extLst>
          </p:cNvPr>
          <p:cNvSpPr txBox="1"/>
          <p:nvPr/>
        </p:nvSpPr>
        <p:spPr>
          <a:xfrm>
            <a:off x="5343587" y="4660248"/>
            <a:ext cx="13785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Texas $$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47C2BA-2800-9FFF-6AD8-D1EB7C4DC57C}"/>
              </a:ext>
            </a:extLst>
          </p:cNvPr>
          <p:cNvSpPr txBox="1"/>
          <p:nvPr/>
        </p:nvSpPr>
        <p:spPr>
          <a:xfrm>
            <a:off x="9356362" y="4662580"/>
            <a:ext cx="142811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>Ohio $</a:t>
            </a:r>
          </a:p>
        </p:txBody>
      </p:sp>
    </p:spTree>
    <p:extLst>
      <p:ext uri="{BB962C8B-B14F-4D97-AF65-F5344CB8AC3E}">
        <p14:creationId xmlns:p14="http://schemas.microsoft.com/office/powerpoint/2010/main" val="4196386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095B-43F4-6C8B-1FE6-E3B4FD77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ACF0-0482-AD36-098A-5CD362D2F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36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D10B5-C1C1-EA9B-EB28-D28D4FA7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256C-0158-4EB4-9D07-F2EE2549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Finding the Right House</a:t>
            </a:r>
          </a:p>
        </p:txBody>
      </p:sp>
      <p:pic>
        <p:nvPicPr>
          <p:cNvPr id="4" name="Graphic 3" descr="Sleep with solid fill">
            <a:extLst>
              <a:ext uri="{FF2B5EF4-FFF2-40B4-BE49-F238E27FC236}">
                <a16:creationId xmlns:a16="http://schemas.microsoft.com/office/drawing/2014/main" id="{261A394C-A701-B9EC-EE87-F1DBAC1DB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7899" y="3233705"/>
            <a:ext cx="1389617" cy="1389617"/>
          </a:xfrm>
          <a:prstGeom prst="rect">
            <a:avLst/>
          </a:prstGeom>
        </p:spPr>
      </p:pic>
      <p:pic>
        <p:nvPicPr>
          <p:cNvPr id="5" name="Graphic 4" descr="Rolling hills with solid fill">
            <a:extLst>
              <a:ext uri="{FF2B5EF4-FFF2-40B4-BE49-F238E27FC236}">
                <a16:creationId xmlns:a16="http://schemas.microsoft.com/office/drawing/2014/main" id="{C20D4DD5-693B-808F-DF95-D3E4B9E643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0679" y="4278235"/>
            <a:ext cx="1389617" cy="1389617"/>
          </a:xfrm>
          <a:prstGeom prst="rect">
            <a:avLst/>
          </a:prstGeom>
        </p:spPr>
      </p:pic>
      <p:pic>
        <p:nvPicPr>
          <p:cNvPr id="6" name="Graphic 5" descr="House with solid fill">
            <a:extLst>
              <a:ext uri="{FF2B5EF4-FFF2-40B4-BE49-F238E27FC236}">
                <a16:creationId xmlns:a16="http://schemas.microsoft.com/office/drawing/2014/main" id="{D31E1B18-4246-E176-614D-FBE021EE25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6852" y="3079421"/>
            <a:ext cx="1389617" cy="13896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2351EB-C9E7-61EA-308E-96F6E86C1E55}"/>
              </a:ext>
            </a:extLst>
          </p:cNvPr>
          <p:cNvSpPr txBox="1"/>
          <p:nvPr/>
        </p:nvSpPr>
        <p:spPr>
          <a:xfrm>
            <a:off x="8950026" y="4278171"/>
            <a:ext cx="138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Bed Score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410C1-4F27-E24B-F954-E8712FD3BEA8}"/>
              </a:ext>
            </a:extLst>
          </p:cNvPr>
          <p:cNvSpPr txBox="1"/>
          <p:nvPr/>
        </p:nvSpPr>
        <p:spPr>
          <a:xfrm>
            <a:off x="1270510" y="4280808"/>
            <a:ext cx="1907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House Size Score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3A1C4-3F01-FB09-EF0E-4A108F0BDDD5}"/>
              </a:ext>
            </a:extLst>
          </p:cNvPr>
          <p:cNvSpPr txBox="1"/>
          <p:nvPr/>
        </p:nvSpPr>
        <p:spPr>
          <a:xfrm>
            <a:off x="3433164" y="5573487"/>
            <a:ext cx="170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Acreage Score</a:t>
            </a:r>
          </a:p>
        </p:txBody>
      </p:sp>
      <p:pic>
        <p:nvPicPr>
          <p:cNvPr id="11" name="Graphic 10" descr="Rubber duck with solid fill">
            <a:extLst>
              <a:ext uri="{FF2B5EF4-FFF2-40B4-BE49-F238E27FC236}">
                <a16:creationId xmlns:a16="http://schemas.microsoft.com/office/drawing/2014/main" id="{063C5119-7FB9-02E9-A3A8-EA32057697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3777" y="4335931"/>
            <a:ext cx="1499455" cy="14994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8509FB-F0CB-B9BC-FF18-72BC1A9DB983}"/>
              </a:ext>
            </a:extLst>
          </p:cNvPr>
          <p:cNvSpPr txBox="1"/>
          <p:nvPr/>
        </p:nvSpPr>
        <p:spPr>
          <a:xfrm>
            <a:off x="6756864" y="5572902"/>
            <a:ext cx="127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Bath Score</a:t>
            </a:r>
          </a:p>
        </p:txBody>
      </p:sp>
      <p:pic>
        <p:nvPicPr>
          <p:cNvPr id="14" name="Graphic 13" descr="Wave with solid fill">
            <a:extLst>
              <a:ext uri="{FF2B5EF4-FFF2-40B4-BE49-F238E27FC236}">
                <a16:creationId xmlns:a16="http://schemas.microsoft.com/office/drawing/2014/main" id="{7FA870E1-DA8E-C896-655E-987D9EEE4B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7997" y="1594186"/>
            <a:ext cx="1218434" cy="1218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C69BA1-5972-7AA9-E99C-1E0E8C1907CF}"/>
              </a:ext>
            </a:extLst>
          </p:cNvPr>
          <p:cNvSpPr txBox="1"/>
          <p:nvPr/>
        </p:nvSpPr>
        <p:spPr>
          <a:xfrm>
            <a:off x="870376" y="2630061"/>
            <a:ext cx="1714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Coastal Score</a:t>
            </a:r>
          </a:p>
        </p:txBody>
      </p:sp>
      <p:pic>
        <p:nvPicPr>
          <p:cNvPr id="17" name="Graphic 16" descr="Flying Money with solid fill">
            <a:extLst>
              <a:ext uri="{FF2B5EF4-FFF2-40B4-BE49-F238E27FC236}">
                <a16:creationId xmlns:a16="http://schemas.microsoft.com/office/drawing/2014/main" id="{00778DF6-8CC6-1774-DAB1-2582BE6C5C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72859" y="1693260"/>
            <a:ext cx="1034323" cy="10343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9B98BB-F258-DD8E-F052-77B8AC791574}"/>
              </a:ext>
            </a:extLst>
          </p:cNvPr>
          <p:cNvSpPr txBox="1"/>
          <p:nvPr/>
        </p:nvSpPr>
        <p:spPr>
          <a:xfrm>
            <a:off x="9857657" y="2630061"/>
            <a:ext cx="1149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 Score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207B06-1FD8-4683-083C-243AD5CD7F26}"/>
              </a:ext>
            </a:extLst>
          </p:cNvPr>
          <p:cNvSpPr/>
          <p:nvPr/>
        </p:nvSpPr>
        <p:spPr>
          <a:xfrm>
            <a:off x="4839267" y="1881546"/>
            <a:ext cx="1951539" cy="195153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68308C-ABFF-2F11-D0A7-AE4E14EA59B5}"/>
              </a:ext>
            </a:extLst>
          </p:cNvPr>
          <p:cNvSpPr txBox="1"/>
          <p:nvPr/>
        </p:nvSpPr>
        <p:spPr>
          <a:xfrm>
            <a:off x="5091487" y="2534149"/>
            <a:ext cx="1447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Weighted Score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E4D3F9-5BDE-F010-E569-509AFC67686D}"/>
              </a:ext>
            </a:extLst>
          </p:cNvPr>
          <p:cNvCxnSpPr>
            <a:cxnSpLocks/>
          </p:cNvCxnSpPr>
          <p:nvPr/>
        </p:nvCxnSpPr>
        <p:spPr>
          <a:xfrm flipV="1">
            <a:off x="2206180" y="2167342"/>
            <a:ext cx="2900617" cy="98483"/>
          </a:xfrm>
          <a:prstGeom prst="straightConnector1">
            <a:avLst/>
          </a:prstGeom>
          <a:ln>
            <a:solidFill>
              <a:srgbClr val="0848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897F2E-46F9-C9C0-C72B-3121ED9EF7C7}"/>
              </a:ext>
            </a:extLst>
          </p:cNvPr>
          <p:cNvCxnSpPr>
            <a:stCxn id="6" idx="3"/>
            <a:endCxn id="19" idx="2"/>
          </p:cNvCxnSpPr>
          <p:nvPr/>
        </p:nvCxnSpPr>
        <p:spPr>
          <a:xfrm flipV="1">
            <a:off x="2846469" y="2857316"/>
            <a:ext cx="1992798" cy="916914"/>
          </a:xfrm>
          <a:prstGeom prst="straightConnector1">
            <a:avLst/>
          </a:prstGeom>
          <a:ln>
            <a:solidFill>
              <a:srgbClr val="1266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FE15D6-5E2A-DA70-6DA0-14ECB26E68F7}"/>
              </a:ext>
            </a:extLst>
          </p:cNvPr>
          <p:cNvCxnSpPr>
            <a:cxnSpLocks/>
          </p:cNvCxnSpPr>
          <p:nvPr/>
        </p:nvCxnSpPr>
        <p:spPr>
          <a:xfrm flipV="1">
            <a:off x="4316819" y="3552583"/>
            <a:ext cx="789978" cy="762450"/>
          </a:xfrm>
          <a:prstGeom prst="straightConnector1">
            <a:avLst/>
          </a:prstGeom>
          <a:ln>
            <a:solidFill>
              <a:srgbClr val="F58A0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98DF65-BB77-F42F-C955-318B2900F3C3}"/>
              </a:ext>
            </a:extLst>
          </p:cNvPr>
          <p:cNvCxnSpPr>
            <a:endCxn id="19" idx="5"/>
          </p:cNvCxnSpPr>
          <p:nvPr/>
        </p:nvCxnSpPr>
        <p:spPr>
          <a:xfrm flipH="1" flipV="1">
            <a:off x="6505010" y="3547289"/>
            <a:ext cx="920302" cy="807268"/>
          </a:xfrm>
          <a:prstGeom prst="straightConnector1">
            <a:avLst/>
          </a:prstGeom>
          <a:ln>
            <a:solidFill>
              <a:srgbClr val="08488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5D4F45-E75D-718F-8107-12794EFB5CD8}"/>
              </a:ext>
            </a:extLst>
          </p:cNvPr>
          <p:cNvCxnSpPr>
            <a:endCxn id="19" idx="6"/>
          </p:cNvCxnSpPr>
          <p:nvPr/>
        </p:nvCxnSpPr>
        <p:spPr>
          <a:xfrm flipH="1" flipV="1">
            <a:off x="6790806" y="2857316"/>
            <a:ext cx="1968250" cy="1071198"/>
          </a:xfrm>
          <a:prstGeom prst="straightConnector1">
            <a:avLst/>
          </a:prstGeom>
          <a:ln>
            <a:solidFill>
              <a:srgbClr val="F58A0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A5E365D-46BD-76DC-DDC3-4A5808F93EBA}"/>
              </a:ext>
            </a:extLst>
          </p:cNvPr>
          <p:cNvCxnSpPr>
            <a:endCxn id="19" idx="7"/>
          </p:cNvCxnSpPr>
          <p:nvPr/>
        </p:nvCxnSpPr>
        <p:spPr>
          <a:xfrm flipH="1" flipV="1">
            <a:off x="6505010" y="2167342"/>
            <a:ext cx="3516569" cy="98483"/>
          </a:xfrm>
          <a:prstGeom prst="straightConnector1">
            <a:avLst/>
          </a:prstGeom>
          <a:ln>
            <a:solidFill>
              <a:srgbClr val="12664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027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E4373-6586-3A3F-AFEB-A4A731104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5D3275D-140E-634B-A488-12CA8C8D9CF5}"/>
              </a:ext>
            </a:extLst>
          </p:cNvPr>
          <p:cNvSpPr/>
          <p:nvPr/>
        </p:nvSpPr>
        <p:spPr>
          <a:xfrm>
            <a:off x="9478618" y="1024863"/>
            <a:ext cx="2713382" cy="47959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CD8AB-DF84-2781-A549-D3CC2BA03B93}"/>
              </a:ext>
            </a:extLst>
          </p:cNvPr>
          <p:cNvSpPr txBox="1"/>
          <p:nvPr/>
        </p:nvSpPr>
        <p:spPr>
          <a:xfrm>
            <a:off x="9478618" y="1031001"/>
            <a:ext cx="27133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system-ui"/>
              </a:rPr>
              <a:t>H₀: </a:t>
            </a:r>
            <a:r>
              <a:rPr lang="en-US" b="1" dirty="0">
                <a:effectLst/>
                <a:latin typeface="system-ui"/>
              </a:rPr>
              <a:t>No</a:t>
            </a:r>
            <a:r>
              <a:rPr lang="en-US" b="0" dirty="0">
                <a:effectLst/>
                <a:latin typeface="system-ui"/>
              </a:rPr>
              <a:t> </a:t>
            </a:r>
            <a:r>
              <a:rPr lang="en-US" b="1" dirty="0">
                <a:effectLst/>
                <a:latin typeface="system-ui"/>
              </a:rPr>
              <a:t>difference </a:t>
            </a:r>
            <a:r>
              <a:rPr lang="en-US" dirty="0">
                <a:effectLst/>
                <a:latin typeface="system-ui"/>
              </a:rPr>
              <a:t>Accuracy when adding state</a:t>
            </a:r>
            <a:r>
              <a:rPr lang="en-US" b="0" i="0" dirty="0">
                <a:effectLst/>
                <a:latin typeface="system-ui"/>
              </a:rPr>
              <a:t>.</a:t>
            </a:r>
          </a:p>
          <a:p>
            <a:br>
              <a:rPr lang="en-US" b="0" i="0" dirty="0">
                <a:effectLst/>
                <a:latin typeface="system-ui"/>
              </a:rPr>
            </a:br>
            <a:r>
              <a:rPr lang="en-US" b="0" i="0" dirty="0">
                <a:effectLst/>
                <a:latin typeface="system-ui"/>
              </a:rPr>
              <a:t>H₁:</a:t>
            </a:r>
            <a:r>
              <a:rPr lang="en-US" dirty="0">
                <a:latin typeface="system-ui"/>
              </a:rPr>
              <a:t> </a:t>
            </a:r>
            <a:r>
              <a:rPr lang="en-US" b="1" dirty="0">
                <a:latin typeface="system-ui"/>
              </a:rPr>
              <a:t>Adding</a:t>
            </a:r>
            <a:r>
              <a:rPr lang="en-US" dirty="0">
                <a:latin typeface="system-ui"/>
              </a:rPr>
              <a:t> state would </a:t>
            </a:r>
            <a:r>
              <a:rPr lang="en-US" b="1" dirty="0">
                <a:latin typeface="system-ui"/>
              </a:rPr>
              <a:t>increase</a:t>
            </a:r>
            <a:r>
              <a:rPr lang="en-US" dirty="0">
                <a:latin typeface="system-ui"/>
              </a:rPr>
              <a:t> </a:t>
            </a:r>
            <a:r>
              <a:rPr lang="en-US" b="1" dirty="0">
                <a:latin typeface="system-ui"/>
              </a:rPr>
              <a:t>Accuracy</a:t>
            </a:r>
            <a:r>
              <a:rPr lang="en-US" b="0" i="0" dirty="0">
                <a:effectLst/>
                <a:latin typeface="system-ui"/>
              </a:rPr>
              <a:t>.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504000B-1299-CBDF-AC47-AFC9736D1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6891" y="612023"/>
            <a:ext cx="9131726" cy="563395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3497E6-4BE5-0E9A-80CE-AF3E5BD3E36C}"/>
              </a:ext>
            </a:extLst>
          </p:cNvPr>
          <p:cNvSpPr txBox="1"/>
          <p:nvPr/>
        </p:nvSpPr>
        <p:spPr>
          <a:xfrm>
            <a:off x="9478619" y="2967335"/>
            <a:ext cx="17843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T-score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30.47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0.0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3024D5-7018-F7D1-8C35-6A41316B5455}"/>
              </a:ext>
            </a:extLst>
          </p:cNvPr>
          <p:cNvSpPr txBox="1"/>
          <p:nvPr/>
        </p:nvSpPr>
        <p:spPr>
          <a:xfrm>
            <a:off x="1503544" y="1871595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58.1%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21452-DD36-E521-3D6C-C66BB3221598}"/>
              </a:ext>
            </a:extLst>
          </p:cNvPr>
          <p:cNvSpPr txBox="1"/>
          <p:nvPr/>
        </p:nvSpPr>
        <p:spPr>
          <a:xfrm>
            <a:off x="2479309" y="1317597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65.8%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4520A-C857-9BD7-086E-E625D2E731B3}"/>
              </a:ext>
            </a:extLst>
          </p:cNvPr>
          <p:cNvSpPr txBox="1"/>
          <p:nvPr/>
        </p:nvSpPr>
        <p:spPr>
          <a:xfrm>
            <a:off x="4321999" y="1871595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57.9%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B1842-B2F1-8BBD-F31B-D43D014AD573}"/>
              </a:ext>
            </a:extLst>
          </p:cNvPr>
          <p:cNvSpPr txBox="1"/>
          <p:nvPr/>
        </p:nvSpPr>
        <p:spPr>
          <a:xfrm>
            <a:off x="5301623" y="1296373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66.5%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8CC7A-9DE9-8BA3-2F1E-C0132CCE69DE}"/>
              </a:ext>
            </a:extLst>
          </p:cNvPr>
          <p:cNvSpPr txBox="1"/>
          <p:nvPr/>
        </p:nvSpPr>
        <p:spPr>
          <a:xfrm>
            <a:off x="7043131" y="1871595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58.3%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91A3F-3FC5-6713-3DC4-4730C1DD2141}"/>
              </a:ext>
            </a:extLst>
          </p:cNvPr>
          <p:cNvSpPr txBox="1"/>
          <p:nvPr/>
        </p:nvSpPr>
        <p:spPr>
          <a:xfrm>
            <a:off x="8021970" y="1317597"/>
            <a:ext cx="902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65.8%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E03F2-B470-5415-1DF1-861D7E812CD5}"/>
              </a:ext>
            </a:extLst>
          </p:cNvPr>
          <p:cNvSpPr txBox="1"/>
          <p:nvPr/>
        </p:nvSpPr>
        <p:spPr>
          <a:xfrm>
            <a:off x="7609148" y="3432350"/>
            <a:ext cx="12755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7.5+%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BA3610-0551-5D6E-5269-E14A2B77D1A8}"/>
              </a:ext>
            </a:extLst>
          </p:cNvPr>
          <p:cNvSpPr txBox="1"/>
          <p:nvPr/>
        </p:nvSpPr>
        <p:spPr>
          <a:xfrm>
            <a:off x="4829751" y="3443089"/>
            <a:ext cx="12212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8.6+%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DA2BE-BC25-2E34-E98E-14A6AFC10AB8}"/>
              </a:ext>
            </a:extLst>
          </p:cNvPr>
          <p:cNvSpPr txBox="1"/>
          <p:nvPr/>
        </p:nvSpPr>
        <p:spPr>
          <a:xfrm>
            <a:off x="2061710" y="3443089"/>
            <a:ext cx="1449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7.7+%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ED5871-8DB2-6C5B-CA99-6D8B7AB32052}"/>
              </a:ext>
            </a:extLst>
          </p:cNvPr>
          <p:cNvSpPr/>
          <p:nvPr/>
        </p:nvSpPr>
        <p:spPr>
          <a:xfrm>
            <a:off x="3295522" y="701203"/>
            <a:ext cx="3747609" cy="291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151B5A-2231-856C-5063-6BE33F9E06F1}"/>
              </a:ext>
            </a:extLst>
          </p:cNvPr>
          <p:cNvSpPr txBox="1"/>
          <p:nvPr/>
        </p:nvSpPr>
        <p:spPr>
          <a:xfrm>
            <a:off x="2405670" y="233203"/>
            <a:ext cx="65787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/>
              <a:t>Decision Tree Improvement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36268-C8DB-D933-31D9-C697A4938EB4}"/>
              </a:ext>
            </a:extLst>
          </p:cNvPr>
          <p:cNvSpPr txBox="1"/>
          <p:nvPr/>
        </p:nvSpPr>
        <p:spPr>
          <a:xfrm>
            <a:off x="9478617" y="4059992"/>
            <a:ext cx="1837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F-Stat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</a:t>
            </a:r>
            <a:r>
              <a:rPr lang="en-US" dirty="0"/>
              <a:t> 2.30</a:t>
            </a:r>
          </a:p>
          <a:p>
            <a:endParaRPr lang="en-US" dirty="0"/>
          </a:p>
          <a:p>
            <a:r>
              <a:rPr lang="en-US" dirty="0"/>
              <a:t>P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GothicNeo" panose="020B0503020000020004" pitchFamily="34" charset="-127"/>
              </a:rPr>
              <a:t>≈ </a:t>
            </a:r>
            <a:r>
              <a:rPr lang="en-US" dirty="0"/>
              <a:t>0.0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E8718D-94FE-AF38-22CD-303C4101BC7C}"/>
              </a:ext>
            </a:extLst>
          </p:cNvPr>
          <p:cNvSpPr txBox="1"/>
          <p:nvPr/>
        </p:nvSpPr>
        <p:spPr>
          <a:xfrm>
            <a:off x="152195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Without State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7AD61F-1D40-0F6A-8ECD-E162B25F3809}"/>
              </a:ext>
            </a:extLst>
          </p:cNvPr>
          <p:cNvSpPr txBox="1"/>
          <p:nvPr/>
        </p:nvSpPr>
        <p:spPr>
          <a:xfrm>
            <a:off x="429438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Without State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4E7607-1339-6BC5-AF7B-8341C087D166}"/>
              </a:ext>
            </a:extLst>
          </p:cNvPr>
          <p:cNvSpPr txBox="1"/>
          <p:nvPr/>
        </p:nvSpPr>
        <p:spPr>
          <a:xfrm>
            <a:off x="706681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Without State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A04AE4-1E17-45A9-66DE-412944C96DEF}"/>
              </a:ext>
            </a:extLst>
          </p:cNvPr>
          <p:cNvSpPr txBox="1"/>
          <p:nvPr/>
        </p:nvSpPr>
        <p:spPr>
          <a:xfrm>
            <a:off x="2519123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 State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F8856F-5D98-C3CC-FB80-11249F45DD30}"/>
              </a:ext>
            </a:extLst>
          </p:cNvPr>
          <p:cNvSpPr txBox="1"/>
          <p:nvPr/>
        </p:nvSpPr>
        <p:spPr>
          <a:xfrm>
            <a:off x="5333815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 State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528B1D-3A49-D101-0A21-046E233E73E5}"/>
              </a:ext>
            </a:extLst>
          </p:cNvPr>
          <p:cNvSpPr txBox="1"/>
          <p:nvPr/>
        </p:nvSpPr>
        <p:spPr>
          <a:xfrm>
            <a:off x="8042586" y="4813997"/>
            <a:ext cx="9573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With State</a:t>
            </a:r>
          </a:p>
        </p:txBody>
      </p:sp>
    </p:spTree>
    <p:extLst>
      <p:ext uri="{BB962C8B-B14F-4D97-AF65-F5344CB8AC3E}">
        <p14:creationId xmlns:p14="http://schemas.microsoft.com/office/powerpoint/2010/main" val="3946182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1677</TotalTime>
  <Words>421</Words>
  <Application>Microsoft Office PowerPoint</Application>
  <PresentationFormat>Widescreen</PresentationFormat>
  <Paragraphs>135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Microsoft YaHei</vt:lpstr>
      <vt:lpstr>Aptos</vt:lpstr>
      <vt:lpstr>Aptos Display</vt:lpstr>
      <vt:lpstr>Arial</vt:lpstr>
      <vt:lpstr>Roboto</vt:lpstr>
      <vt:lpstr>system-ui</vt:lpstr>
      <vt:lpstr>Office Theme</vt:lpstr>
      <vt:lpstr>Purchasing A Family Home</vt:lpstr>
      <vt:lpstr>What Determines House Price?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Urban Versus Suburbs Versus Suburbs</vt:lpstr>
      <vt:lpstr>PowerPoint Presentation</vt:lpstr>
      <vt:lpstr>So What Determines House Price?</vt:lpstr>
      <vt:lpstr>Price Categories</vt:lpstr>
      <vt:lpstr>PowerPoint Presentation</vt:lpstr>
      <vt:lpstr>Finding the Right House</vt:lpstr>
      <vt:lpstr>The Best House</vt:lpstr>
      <vt:lpstr>Location is Important!</vt:lpstr>
      <vt:lpstr>PowerPoint Presentation</vt:lpstr>
      <vt:lpstr>Finding the Right House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Cobb27</dc:creator>
  <cp:lastModifiedBy>Samuel Cobb27</cp:lastModifiedBy>
  <cp:revision>3</cp:revision>
  <dcterms:created xsi:type="dcterms:W3CDTF">2025-04-29T20:17:14Z</dcterms:created>
  <dcterms:modified xsi:type="dcterms:W3CDTF">2025-05-05T14:19:02Z</dcterms:modified>
</cp:coreProperties>
</file>